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d979ba18-9091-21b9-4ac6-c97afe29dea9}">
          <p14:sldIdLst>
            <p14:sldId id="256"/>
            <p14:sldId id="257"/>
            <p14:sldId id="258"/>
            <p14:sldId id="259"/>
          </p14:sldIdLst>
        </p14:section>
        <p14:section name="Arquiteturas" id="{8c635f28-556c-797e-436f-8f2a6d476606}">
          <p14:sldIdLst>
            <p14:sldId id="260"/>
            <p14:sldId id="261"/>
            <p14:sldId id="262"/>
            <p14:sldId id="263"/>
            <p14:sldId id="264"/>
          </p14:sldIdLst>
        </p14:section>
        <p14:section name="A estação" id="{5f311888-c59b-eaa9-ff89-2ce66ff61c3b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Orçamento" id="{c923354d-0549-af86-3d9a-846e006732b6}">
          <p14:sldIdLst>
            <p14:sldId id="272"/>
            <p14:sldId id="273"/>
            <p14:sldId id="274"/>
          </p14:sldIdLst>
        </p14:section>
        <p14:section name="Próximos passos" id="{db961531-1a75-ac23-d499-25a64629ff2d}">
          <p14:sldIdLst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63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638"/>
                </a:solidFill>
                <a:latin typeface="+mn-lt"/>
              </a:rPr>
              <a:t>Hardware para 40 estações (R$ mil)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Operação completa (R$ mil)</c:v>
                </c:pt>
              </c:strCache>
            </c:strRef>
          </c:tx>
          <c:spPr>
            <a:solidFill>
              <a:srgbClr val="2F5597"/>
            </a:solidFill>
            <a:effectLst/>
          </c:spPr>
          <c:invertIfNegative val="0"/>
          <c:dLbls>
            <c:numFmt formatCode="&quot;R$ &quot;#,##0&quot; mil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 interna, só materiais</c:v>
                  </c:pt>
                  <c:pt idx="1">
                    <c:v>A interna, com mão de obra</c:v>
                  </c:pt>
                  <c:pt idx="2">
                    <c:v>A com placa própria (EMS)</c:v>
                  </c:pt>
                  <c:pt idx="3">
                    <c:v>A com PTL comercial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222</c:v>
                </c:pt>
                <c:pt idx="1">
                  <c:v>305</c:v>
                </c:pt>
                <c:pt idx="2">
                  <c:v>335</c:v>
                </c:pt>
                <c:pt idx="3">
                  <c:v>763</c:v>
                </c:pt>
              </c:numCache>
            </c:numRef>
          </c:val>
        </c:ser>
        <c:dLbls>
          <c:numFmt formatCode="&quot;R$ &quot;#,##0&quot; mil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6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7ED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A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da reunião: decidir o piloto e a arquitetura. A planilha, o documento técnico e o simulador estão disponíveis para consulta.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da tabela wms_endereco e da planilha Orcamento_PTL.xlsx (aba Resumo). O piloto custa cerca de 5% da operação completa e permite medir o ganho antes de investir no restante.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Volume informado pela operação. A falta continua sendo apontada na conferência para não mudar mais processos do que o necessário.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operação pediu que abrir e fechar a caixa fosse só pela leitura, sem escolher opção na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app (A1) é melhor para o operador. A tela do WMS (A2) é mais rápida de fazer e pode ser usada no piloto se o app atrasar.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Azul: software novo (Serviço PTL). Verde: hardware novo em cada estação. Marrom: sistemas que já existem. Tracejado: opcional ou melhoria futura (RFID com pulseira). O serviço fala com o Sybase por SQL, com o BHT por HTTP e com os 40 concentradores por MQTT na rede cabeada; cada concentrador comanda dois barramentos RS-485.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leitores de pulso comerciais são UHF (o FEIG custa cerca de US$ 997) e leem de longe, podendo pegar a caixa vizinha. Por isso a proposta usa NFC, que lê a poucos centímetros.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com mão de obra interna. O RFID usa toda a parte de displays da A, então começar pelo coletor não desperdiça investimento.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Esteira de transporte e de separação lado a lado, a uns 20 cm uma da outra. A transferência passa a bacia para a separação e o rolete direcionador manda para 2 estações à esquerda ou 2 à direita (ex.: entre 11 e 12 atende 10 a 13; na ponta, entre 3 e 4 atende 3, 4 e 5). A bacia só entra nas estações com itens do pedido. Alto giro na frente do operador, com a esteira de transporte passando por dentro (por baixo do andar 3 e por cima do andar 4) e a de separação aberta na frente; corredor do baixo giro atrás do operador, com 020-031 à esquerda e 043 a 032 à direita; o 015 ocupa a frente do bloco inteiro (1 m), virado para a esteira. Andares 4 e 5 do alto giro por baixo da esteira de separação. Medidas do desenho: 2,5 m de alto giro por estação, blocos de 1 m (2 prateleiras de 50 cm × 2 m) e corredor de cerca de 1,5 m. A barra âmbar na frente do alto giro avisa que a caixa tem itens no baixo giro. O concentrador fica atrás da estação e o barramento do baixo giro passa por cima das esteiras.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Prateleiras alinhadas; a caixa do endereço muda de tamanho pelo tipo. Estação 05: 209 endereços. 49 de alto giro (29 com display próprio e 20 nos andares 4 e 5, atendidos por dois displays) e 160 de baixo giro em 4 zonas (2 por lado, displays na altura dos olhos). O tamanho da zona é parâmetro e será ajustado no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principal pedido da operação é reduzir a manutenção. Cada módulo se liga por RJ45 e o nó de coluna reúne os displays de um prédio.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Telas do app A1. Com itens pendentes, a segunda leitura gera um alerta e exige nova leitura para fechar; a pendência fica registrada para a conferência.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interface de controle mostra o endereço no formato da etiqueta (0.05.0042.A), o módulo (nó e porta, ou endereço RS-485 do E+Q), o local e o tipo de falha. Na troca, o técnico escolhe o endereço na tela, o módulo novo pisca CAd e ele aperta o botão desse módulo para gravar o LED no endereço. Sem hardware extra dá para detectar módulo sem resposta, display desconectado, botão travado e cabo rompido; segmento queimado aparece no teste 8888 do início do turno.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 arquitetura de software: o serviço lê os itens por views no Sybase para não depender do modelo do WMS. Linguagem e servidor ainda serão definidos.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Orcamento_PTL.xlsx. A placa própria só compensa em escala, por causa do projeto (cerca de R$ 15 mil) e da importação. Quantidades e preços podem ser alterados na planilha. Mão de obra a R$ 34,93/h (técnico) e software a R$ 103,78/h (analista de desenvolvimento), salários médios do salario.com.br com encargos. Os materiais incluem canaleta pelo layout real, alimentação dos concentradores, tomadas novas, nobreak e rack dos switches, ferramentas e frete.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com instalação. 12 V × 5 V: os materiais ficam praticamente iguais (R$ 222 mil × R$ 227 mil), porque o cabo de força extra do 5 V custa mais do que os reguladores economizados, e o 5 V ainda aumenta a manutenção. Por isso a indicação é 12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prazos dependem da disponibilidade da equipe e da compra das peças.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Detalhes no item 14 do documento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o simulador com python iniciar.py no repositório picking_to_light (versão unificada). Abas: Estação 3D, Comunicação, Lado a lado e Controle (falhas e cadastro de LED). Usar a estação 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essas quatro decisões, o protótipo de bancada pode começar na semana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B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2000" dirty="0">
                <a:solidFill>
                  <a:srgbClr val="C9D3E0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rgbClr val="1B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515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E0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B"/>
                </a:solidFill>
              </a:rPr>
              <a:t>Pick-to-Light · Flow rack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Pick-to-Light no flow rack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9D3E0"/>
                </a:solidFill>
              </a:rPr>
              <a:t>Proposta de arquitetura, orçamento e piloto para as 40 estações de Medicamento e Perfumaria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B"/>
                </a:solidFill>
              </a:rPr>
              <a:t>TI · outubro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Resumo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15184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estações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20 de Medicamento e 20 de Perfumaria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4992" y="1371600"/>
            <a:ext cx="2615184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7872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7.981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endereços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1.280 com display próprio no alto giro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81344" y="1371600"/>
            <a:ext cx="2615184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64224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R$ 305 mil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364224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operação completa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64224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Arquitetura A, produção interna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97696" y="1371600"/>
            <a:ext cx="2615184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0576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R$ 22,5 mil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180576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80576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bancada + estações 04 e 27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49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Proposta: </a:t>
            </a:r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começar pela Arquitetura A, que usa os coletores MovFast que já temos, com os módulos montados internamente e alimentação em 12 V. O piloto seria nas estações 04 e 27. O RFID com pulseira fica como melhoria futura, aproveitando os mesmos displays.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Para decidir hoje: aprovação do piloto, Arquitetura A como base e montagem interna dos módulos.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Situação atual e objetivos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81912"/>
            <a:ext cx="356616" cy="3566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371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Cerca de 3.000 volumes por dia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passam pela linha de separação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770632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560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250 a 270 mil produtos por dia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separados nas 40 estações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794760"/>
            <a:ext cx="685800" cy="685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959352"/>
            <a:ext cx="356616" cy="3566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749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Manutenção no sistema anterior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fios contínuos na canaleta davam muito trabalho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583680" y="1325880"/>
            <a:ext cx="5029200" cy="448056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Objetivos do projeto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0" y="20574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Reduzir o tempo por caixa em cada estação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Reduzir erros de separação (endereço e quantidade)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Abrir e fechar a caixa só com a leitura, sem tocar na tela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Trocar um display com defeito em menos de 5 minutos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Acompanhamento das estações pela gestão e pela TI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1206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Fica fora nesta fase: controle da esteira (continua no BHT), falta de produto (continua na conferência) e reposição.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Como funciona na estação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356616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3736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9348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1. Lê a etiqueta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 operador aperta o gatilho do coletor na etiqueta da caixa. A caixa abre na estação.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83280" y="1463040"/>
            <a:ext cx="2606040" cy="356616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0" y="17373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110" y="193487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760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2. Displays acendem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32004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 alto giro acendem todos os endereços da caixa. No baixo giro, cada zona mostra endereço e quantidade.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217920" y="1463040"/>
            <a:ext cx="2606040" cy="356616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92240" y="173736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750" y="193487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3. Pega e confirma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32004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Pega a quantidade e aperta o botão. O display apaga ou passa ao próximo item da zona.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052560" y="1463040"/>
            <a:ext cx="2606040" cy="356616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326880" y="173736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390" y="1934870"/>
            <a:ext cx="427939" cy="42793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2688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4. Lê de novo e fecha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9326880" y="32004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Com tudo apagado, nova leitura fecha a caixa, grava no Sybase e a caixa volta à esteira.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No futuro, com RFID, os passos 1 e 4 passam a ser feitos encostando a pulseira na tag da caixa.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Arquiteturas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E0"/>
                </a:solidFill>
              </a:rPr>
              <a:t>A POC e a implantação usam o coletor que já temos. O RFID com pulseira usa os mesmos displays e fica como melhoria futura.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Arquitetura A: coletor de dados</a:t>
            </a:r>
            <a:endParaRPr lang="en-US" sz="2600" dirty="0"/>
          </a:p>
        </p:txBody>
      </p:sp>
      <p:pic>
        <p:nvPicPr>
          <p:cNvPr id="3" name="Image 0" descr="/home/claude/ptl-projeto/diagramas/arquitetura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863840" cy="426894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549640" y="1280160"/>
            <a:ext cx="31089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732520" y="1389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Coletor MovFast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732520" y="17556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A1: app Android próprio (indicado)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A2: tela do WMS no coletor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549640" y="2880360"/>
            <a:ext cx="31089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32520" y="2990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Serviço PTL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33558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API e MQTT, ligado ao Sybase e à API do BHT, com painel de acompanhamento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549640" y="4480560"/>
            <a:ext cx="31089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32520" y="4590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Concentrador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49560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Rede cabeada, dois barramentos RS-485, fonte de 12 V e gabinete ventilado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Arquitetura de componentes</a:t>
            </a:r>
            <a:endParaRPr lang="en-US" sz="2600" dirty="0"/>
          </a:p>
        </p:txBody>
      </p:sp>
      <p:pic>
        <p:nvPicPr>
          <p:cNvPr id="3" name="Image 0" descr="/home/claude/ptl-projeto/diagramas/compone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2380" y="1097280"/>
            <a:ext cx="8256760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Melhoria futura: RFID com pulseira</a:t>
            </a:r>
            <a:endParaRPr lang="en-US" sz="2600" dirty="0"/>
          </a:p>
        </p:txBody>
      </p:sp>
      <p:pic>
        <p:nvPicPr>
          <p:cNvPr id="3" name="Image 0" descr="/home/claude/ptl-projeto/diagramas/arquitetura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863840" cy="426894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549640" y="128016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EFE7F6"/>
          </a:solidFill>
          <a:ln w="12700">
            <a:solidFill>
              <a:srgbClr val="EFE7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732520" y="1389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Depois da POC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732520" y="17556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 POC e a implantação usam o coletor. O leitor fixo saiu do projeto.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549640" y="288036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EFE7F6"/>
          </a:solidFill>
          <a:ln w="12700">
            <a:solidFill>
              <a:srgbClr val="EFE7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32520" y="2990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Pulseira NFC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33558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Cerca de R$ 130 por unidade, mãos livres. Acréscimo de ~R$ 36 mil para as 40 estações.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549640" y="448056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EFE7F6"/>
          </a:solidFill>
          <a:ln w="12700">
            <a:solidFill>
              <a:srgbClr val="EFE7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32520" y="4590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Tag na caixa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49560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NTAG213, cerca de R$ 2,37 cada. Frota estimada em 5.000 caixas, a confirmar.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Coletor hoje, RFID depois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60520"/>
                <a:gridCol w="41605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Critério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Coletor (POC e implantação)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RFID com pulseira (futuro)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Leitura da caixa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Coletores MovFast que já temos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Tag em cada caixa e pulseira no operador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O que o operador faz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Aperta o gatilho para abrir e para fechar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Encosta o pulso na tag para abrir e fechar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Hardware, 40 estações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R$ 305 mil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+ R$ 33 mil sobre o coletor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Custo recorrente novo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Nenhum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Tags de caixas novas ou danificadas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Software (estimativa)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Cerca de 1.144 h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+ 80 h e o cadastro das tags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Principais riscos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Wi-Fi e disponibilidade dos coletores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Conforto e bateria da pulseira; frota de tags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Prazo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POC em ~10 semanas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Depois da POC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 estação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E0"/>
                </a:solidFill>
              </a:rPr>
              <a:t>Layout desenhado com a operação e com os endereços da tabela wms_endereco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Planta da estação e transferência</a:t>
            </a:r>
            <a:endParaRPr lang="en-US" sz="2600" dirty="0"/>
          </a:p>
        </p:txBody>
      </p:sp>
      <p:pic>
        <p:nvPicPr>
          <p:cNvPr id="3" name="Image 0" descr="/home/claude/ptl-projeto/diagramas/planta_est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086" y="1143000"/>
            <a:ext cx="8931349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Vista frontal da estação 05</a:t>
            </a:r>
            <a:endParaRPr lang="en-US" sz="2600" dirty="0"/>
          </a:p>
        </p:txBody>
      </p:sp>
      <p:pic>
        <p:nvPicPr>
          <p:cNvPr id="3" name="Image 0" descr="/home/claude/ptl-projeto/diagramas/layout_est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760" y="1280160"/>
            <a:ext cx="1117600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623560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5486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Alto giro, andares 0 a 3: 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um display de quantidade por endereço (29 a 35 por estação)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297680" y="5623560"/>
            <a:ext cx="256032" cy="25603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663440" y="5486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Alto giro, andares 4 e 5: 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duas zonas, cada uma com um display de endereço e quantidade, por baixo da esteira de separação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46720" y="5623560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0" y="5486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Baixo giro: 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duas zonas por lado, com display na altura dos olhos, e sinal luminoso na frente do operador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Displays e cabeamento</a:t>
            </a:r>
            <a:endParaRPr lang="en-US" sz="2600" dirty="0"/>
          </a:p>
        </p:txBody>
      </p:sp>
      <p:pic>
        <p:nvPicPr>
          <p:cNvPr id="3" name="Image 0" descr="/home/claude/ptl-projeto/diagramas/modul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766560" cy="2271631"/>
          </a:xfrm>
          <a:prstGeom prst="rect">
            <a:avLst/>
          </a:prstGeom>
        </p:spPr>
      </p:pic>
      <p:pic>
        <p:nvPicPr>
          <p:cNvPr id="4" name="Image 1" descr="/home/claude/ptl-projeto/diagramas/cabeamen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11880"/>
            <a:ext cx="6400800" cy="27432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589520" y="132588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194" y="1457554"/>
            <a:ext cx="285293" cy="285293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27532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Cat5e com RJ45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8275320" y="16459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Dados e 12 V no mesmo cabo. Cada trecho é um cabo curto com conector.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7589520" y="256032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194" y="2691994"/>
            <a:ext cx="285293" cy="28529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27532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Sem fio contínuo na canaleta</a:t>
            </a:r>
            <a:endParaRPr lang="en-US" sz="1600" dirty="0"/>
          </a:p>
        </p:txBody>
      </p:sp>
      <p:sp>
        <p:nvSpPr>
          <p:cNvPr id="12" name="Text 6"/>
          <p:cNvSpPr txBox="1"/>
          <p:nvPr/>
        </p:nvSpPr>
        <p:spPr>
          <a:xfrm>
            <a:off x="8275320" y="28803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Ao contrário do sistema anterior, o módulo com defeito sai sem abrir a canaleta.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7589520" y="3794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194" y="3926434"/>
            <a:ext cx="285293" cy="285293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27532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12 V em vez de 5 V</a:t>
            </a:r>
            <a:endParaRPr lang="en-US" sz="1600" dirty="0"/>
          </a:p>
        </p:txBody>
      </p:sp>
      <p:sp>
        <p:nvSpPr>
          <p:cNvPr id="16" name="Text 9"/>
          <p:cNvSpPr txBox="1"/>
          <p:nvPr/>
        </p:nvSpPr>
        <p:spPr>
          <a:xfrm>
            <a:off x="8275320" y="4114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Em 10 m de cabo a queda é de 34% em 5 V e de 14% em 12 V, que os reguladores dos módulos compensam.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7589520" y="502920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1194" y="5160874"/>
            <a:ext cx="285293" cy="285293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275320" y="4983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Gabinete ventilado</a:t>
            </a:r>
            <a:endParaRPr lang="en-US" sz="1600" dirty="0"/>
          </a:p>
        </p:txBody>
      </p:sp>
      <p:sp>
        <p:nvSpPr>
          <p:cNvPr id="20" name="Text 12"/>
          <p:cNvSpPr txBox="1"/>
          <p:nvPr/>
        </p:nvSpPr>
        <p:spPr>
          <a:xfrm>
            <a:off x="8275320" y="5349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Filtro e cooler por causa da poeira e do calor. Teste dos displays a cada turno.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Telas do coletor e painel</a:t>
            </a:r>
            <a:endParaRPr lang="en-US" sz="2600" dirty="0"/>
          </a:p>
        </p:txBody>
      </p:sp>
      <p:pic>
        <p:nvPicPr>
          <p:cNvPr id="3" name="Image 0" descr="/home/claude/ptl-projeto/diagramas/telas_cole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680960" cy="362102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412480" y="1280160"/>
            <a:ext cx="3246120" cy="448056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41080" y="1463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2754" y="159471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281160" y="1508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Painel de acompanhamento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641080" y="2148840"/>
            <a:ext cx="2880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Situação das 40 estações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Caixas por hora e tempo médio por caixa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Qual LED falhou e onde ele fica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Cadastro de LED por endereço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Usado pela gestão da operação e pela TI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Falha de LED e cadastro por endereço</a:t>
            </a:r>
            <a:endParaRPr lang="en-US" sz="2600" dirty="0"/>
          </a:p>
        </p:txBody>
      </p:sp>
      <p:pic>
        <p:nvPicPr>
          <p:cNvPr id="3" name="Image 0" descr="/home/claude/ptl-projeto/diagramas/manuten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1247120" cy="479877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Integração com Sybase, BHT e concentradores</a:t>
            </a:r>
            <a:endParaRPr lang="en-US" sz="2600" dirty="0"/>
          </a:p>
        </p:txBody>
      </p:sp>
      <p:pic>
        <p:nvPicPr>
          <p:cNvPr id="3" name="Image 0" descr="/home/claude/ptl-projeto/diagramas/sequenc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863840" cy="46059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4964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Sybase ASE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549640" y="1691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Tabelas do PTL (sessões, eventos e mapa) e views com os itens da caixa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API do BHT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Dados da caixa. O aviso de conclusão depende do fornecedor.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MQTT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4069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Comandos e eventos de cada estação, com usuário e permissão próprios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Rede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5257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VLAN só do PTL. Coletores no Wi-Fi atual.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Orçamento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E0"/>
                </a:solidFill>
              </a:rPr>
              <a:t>Preços pesquisados em lojas brasileiras em 23 e 26/10/2026. Os itens estimados estão marcados na planilha.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Custo de hardware por cenário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75895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0" y="1325880"/>
          <a:ext cx="329184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0515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Piloto 04 e 27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R$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A interna, materiais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14.511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A interna, com mão de obra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19.211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POC com contingência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22.469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A, placa própria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34.967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A, PTL comercial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41.681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366760" y="40690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Software interno: cerca de 1.144 h, ou R$ 119 mil. RFID futuro: + R$ 33 mil e 80 h. Com 10% de contingência e o software, a Arquitetura A soma cerca de R$ 454 mil.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Fazer internamente ou comprar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438912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 w="12700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572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Produção interna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R$ 305 mil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operação completa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Displays e placas comprados no Brasil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Montagem e manutenção pela equipe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Reposição imediata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Precisa de técnico de eletrônica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520440" cy="438912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 w="12700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645920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83480" y="1572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Placa própria (EMS)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148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R$ 335 mil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operação completa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29184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Projeto da placa, cerca de R$ 15 mil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Fabricação e montagem industrial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Peças sempre iguais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Importação e prazo maiores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371600"/>
            <a:ext cx="3520440" cy="438912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 w="12700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645920"/>
            <a:ext cx="292608" cy="29260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32520" y="1572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PTL comercial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148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R$ 763 mil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operação completa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29184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Produto pronto e com garantia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Cerca de 2,5 vezes o custo interno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Dependência do fornecedor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Precisa de cotação formal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Cronograma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10607040" cy="0"/>
          </a:xfrm>
          <a:prstGeom prst="line">
            <a:avLst/>
          </a:prstGeom>
          <a:noFill/>
          <a:ln w="38100">
            <a:solidFill>
              <a:srgbClr val="C9D1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130552"/>
            <a:ext cx="402336" cy="402336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3 a 4 sem.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Protótipo de bancada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Um concentrador, um nó, displays e versão mínima do Serviço PTL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0" y="2130552"/>
            <a:ext cx="402336" cy="40233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1508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~10 sem.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POC 04 e 27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320040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Bancada, depois as 2 estações completas, app do coletor e medição antes e depois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66360" y="2130552"/>
            <a:ext cx="402336" cy="402336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6636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508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 sem.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Avaliação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20040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Resultados, ajuste das zonas e decisão entre A e 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06640" y="2130552"/>
            <a:ext cx="402336" cy="402336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1508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10 a 14 sem.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Expansão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320040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Medicamento e depois Perfumaria, de cinco em cinco estações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46920" y="2130552"/>
            <a:ext cx="402336" cy="402336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4692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509760" y="1508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4 sem.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50976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Estabilização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509760" y="320040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Ajustes finais e entrega para a sustentação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9834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Precisamos para começar: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medidas das estações, média de itens por caixa, acesso à API do BHT e às tabelas de pedido no Sybase e a linguagem do Serviço PTL.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Riscos e como tratar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67518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9047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Dados da caixa na API do BHT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89280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Validar no protótipo; alternativa por views no Sybase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132588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501" y="16751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86600" y="149047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Manutenção alta, como no sistema anterior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086600" y="189280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RJ45 em todos os trechos, módulos de troca rápida e teste a cada turno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283464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3063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318394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299923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Poeira e calor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340156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Gabinete com filtro e cooler e componentes para 0 a 50 °C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72200" y="283464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0" y="3063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501" y="318394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86600" y="299923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Itens por caixa fora do esperado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086600" y="340156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Medir no piloto e ajustar o tamanho das zonas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434340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77240" y="45720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692701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63040" y="450799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Depender de um único técnico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1463040" y="491032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Documentação, kits de reserva e, se necessário, placa própria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172200" y="434340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400800" y="45720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501" y="4692701"/>
            <a:ext cx="261518" cy="26151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86600" y="450799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Resistência dos operadores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7086600" y="491032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Piloto com operadores experientes e treinamento de 30 min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Demonstração no simulador 3D</a:t>
            </a:r>
            <a:endParaRPr lang="en-US" sz="2600" dirty="0"/>
          </a:p>
        </p:txBody>
      </p:sp>
      <p:pic>
        <p:nvPicPr>
          <p:cNvPr id="3" name="Image 0" descr="/home/claude/ptl-projeto/diagramas/simulador_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863840" cy="442341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595360" y="1280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034" y="1411834"/>
            <a:ext cx="285293" cy="28529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23544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Roteiro (5 minutos)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8595360" y="201168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A caixa entra pela transferência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Leitura da caixa no coletor virtual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Alto giro e zonas acendem com os endereços da tabela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Confirmação nos botões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Nova leitura fecha e a caixa volta à esteira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Falha de LED: aviso na interface de controle e cadastro do módulo novo com o botão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Decisões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9D3E0"/>
                </a:solidFill>
              </a:rPr>
              <a:t>1. Aprovar a POC: bancada + estações 04 e 27 (cerca de R$ 22,5 mil)</a:t>
            </a:r>
            <a:endParaRPr lang="en-US" sz="2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9D3E0"/>
                </a:solidFill>
              </a:rPr>
              <a:t>2. Usar a Arquitetura A como base e deixar a B para depois</a:t>
            </a:r>
            <a:endParaRPr lang="en-US" sz="2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9D3E0"/>
                </a:solidFill>
              </a:rPr>
              <a:t>3. Montar os módulos internamente, em 12 V</a:t>
            </a:r>
            <a:endParaRPr lang="en-US" sz="2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9D3E0"/>
                </a:solidFill>
              </a:rPr>
              <a:t>4. Liberar medidas, dados de volume, API do BHT e acesso ao Sybase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TL Flow Rack">
  <a:themeElements>
    <a:clrScheme name="PTL Flow Rack">
      <a:dk1>
        <a:srgbClr val="1B2638"/>
      </a:dk1>
      <a:lt1>
        <a:srgbClr val="FFFFFF"/>
      </a:lt1>
      <a:dk2>
        <a:srgbClr val="2E3A4F"/>
      </a:dk2>
      <a:lt2>
        <a:srgbClr val="EEF1F5"/>
      </a:lt2>
      <a:accent1>
        <a:srgbClr val="F2A33A"/>
      </a:accent1>
      <a:accent2>
        <a:srgbClr val="2E8B57"/>
      </a:accent2>
      <a:accent3>
        <a:srgbClr val="2F5597"/>
      </a:accent3>
      <a:accent4>
        <a:srgbClr val="7B4FA0"/>
      </a:accent4>
      <a:accent5>
        <a:srgbClr val="C0392B"/>
      </a:accent5>
      <a:accent6>
        <a:srgbClr val="5B6675"/>
      </a:accent6>
      <a:hlink>
        <a:srgbClr val="2F5597"/>
      </a:hlink>
      <a:folHlink>
        <a:srgbClr val="7B4FA0"/>
      </a:folHlink>
    </a:clrScheme>
    <a:fontScheme name="PTL Flow Rac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Pick-to-Light: arquitetura e orçamento</dc:title>
  <dc:subject>PptxGenJS Presentation</dc:subject>
  <dc:creator>PptxGenJS</dc:creator>
  <cp:lastModifiedBy>PptxGenJS</cp:lastModifiedBy>
  <cp:revision>1</cp:revision>
  <dcterms:created xsi:type="dcterms:W3CDTF">2026-10-26T17:44:46Z</dcterms:created>
  <dcterms:modified xsi:type="dcterms:W3CDTF">2026-10-26T17:44:46Z</dcterms:modified>
</cp:coreProperties>
</file>