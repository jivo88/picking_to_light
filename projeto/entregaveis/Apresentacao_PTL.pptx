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21b622cd-559b-16c0-3bc3-0f1ea520c719}">
          <p14:sldIdLst>
            <p14:sldId id="256"/>
            <p14:sldId id="257"/>
            <p14:sldId id="258"/>
            <p14:sldId id="259"/>
          </p14:sldIdLst>
        </p14:section>
        <p14:section name="Arquiteturas" id="{8fe82bec-6a1a-ebf0-ed7f-99891ddcd189}">
          <p14:sldIdLst>
            <p14:sldId id="260"/>
            <p14:sldId id="261"/>
            <p14:sldId id="262"/>
            <p14:sldId id="263"/>
          </p14:sldIdLst>
        </p14:section>
        <p14:section name="A estação" id="{a47bcbd5-cc95-b6ab-270e-29db21cb77e2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Orçamento" id="{98810e4d-940d-2222-90bb-de06af1ad29d}">
          <p14:sldIdLst>
            <p14:sldId id="270"/>
            <p14:sldId id="271"/>
            <p14:sldId id="272"/>
          </p14:sldIdLst>
        </p14:section>
        <p14:section name="Próximos passos" id="{1bffa95f-2526-a345-a749-8f153bc31690}">
          <p14:sldIdLst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8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8"/>
                </a:solidFill>
                <a:latin typeface="+mn-lt"/>
              </a:rPr>
              <a:t>Hardware — 40 estações (R$ mil)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Operação completa (R$ mil)</c:v>
                </c:pt>
              </c:strCache>
            </c:strRef>
          </c:tx>
          <c:spPr>
            <a:solidFill>
              <a:srgbClr val="2F5597"/>
            </a:solidFill>
            <a:effectLst/>
          </c:spPr>
          <c:invertIfNegative val="0"/>
          <c:dLbls>
            <c:numFmt formatCode="&quot;R$ &quot;#,##0&quot; mil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 interna — só peças</c:v>
                  </c:pt>
                  <c:pt idx="1">
                    <c:v>A interna — peças + mão de obra</c:v>
                  </c:pt>
                  <c:pt idx="2">
                    <c:v>B2 — RFID leitor fixo</c:v>
                  </c:pt>
                  <c:pt idx="3">
                    <c:v>B1 — RFID pulseira</c:v>
                  </c:pt>
                  <c:pt idx="4">
                    <c:v>A terceiros — placa própria (EMS)</c:v>
                  </c:pt>
                  <c:pt idx="5">
                    <c:v>A terceiros — PTL comercial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199</c:v>
                </c:pt>
                <c:pt idx="1">
                  <c:v>270</c:v>
                </c:pt>
                <c:pt idx="2">
                  <c:v>293</c:v>
                </c:pt>
                <c:pt idx="3">
                  <c:v>294</c:v>
                </c:pt>
                <c:pt idx="4">
                  <c:v>348</c:v>
                </c:pt>
                <c:pt idx="5">
                  <c:v>852</c:v>
                </c:pt>
              </c:numCache>
            </c:numRef>
          </c:val>
        </c:ser>
        <c:dLbls>
          <c:numFmt formatCode="&quot;R$ &quot;#,##0&quot; mil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6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D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7A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objetivo da reunião é decidir o piloto e a arquitetura. Tudo o que for mostrado tem planilha, documento técnico e simulador como apoio.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Números da tabela wms_endereco e da planilha Orcamento_PTL.xlsx (aba Resumo). O piloto custa cerca de 5% da operação completa e mede o ganho real antes do investimento maior.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informado pela operação. A falta continua sendo apontada na conferência, como hoje, para não alterar processos além do necessário.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e fechamento só com a leitura atende ao pedido da operação: selecionar opção na tela reduz produtividade.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alternativa A1 (app) dá a melhor experiência; A2 (tela do WMS) é mais rápida de desenvolver e pode servir no piloto se o app atrasar.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Leitores de pulso comerciais são UHF (ex.: FEIG ≈ US$ 997) e leem de longe, com risco de pegar a caixa vizinha. Por isso a proposta usa NFC de curto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mão de obra interna. A Arquitetura B reaproveita 100% da infraestrutura de displays da A, então começar pela A não perde investimento.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Esteira de transporte e de separação lado a lado (≈ 20 cm). A transferência passa a bacia para a separação e o rolete direcionador manda para 2 estações à esquerda ou 2 à direita (ex.: entre 11 e 12 atende 10 a 13; na ponta, entre 3 e 4 atende 3, 4 e 5). A bacia só entra nas estações com itens do pedido. Alto giro atrás do operador; corredor do baixo giro com 020-031 à esquerda e 015 + 043 a 032 à direita.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Prateleiras alinhadas; a caixa do endereço muda de tamanho pelo tipo. Estação 05: 209 endereços. 49 de alto giro (29 com display próprio + 20 nos andares 4-5, atendidos por 4 displays E+Q) e 160 de baixo giro em 6 zonas. O tamanho da zona é parâmetro e será ajustado no piloto.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central da operação é reduzir manutenção. Cada módulo se conecta por RJ45; o nó de coluna concentra os displays de um prédio.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do app A1. Com itens pendentes, a segunda leitura gera um alerta e exige nova leitura para fechar; a pendência fica registrada para a conferência.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arquiteto de software: o serviço lê os itens por views no Sybase para não acoplar ao modelo do WMS. Linguagem e hospedagem do serviço ficam para a decisão da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Orcamento_PTL.xlsx. A placa própria (EMS) só se paga em escala por causa do projeto (≈ R$ 15 mil) e da importação. Todas as quantidades e preços são editáveis na 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com instalação. 12 V × 5 V: o custo de peças fica praticamente igual (R$ 199 mil × R$ 197 mil), mas 5 V exige mais pontos de alimentação e aumenta a manutenção — por isso a recomendação é 12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Prazos estimados; dependem da disponibilidade da equipe e da compra das peças.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Detalhes completos na seção 14 do documento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o simulador (repositório picking_to_light, pasta simulador-3d): python iniciar_3d.py. Usar a estação 05 com os 209 endereços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as quatro decisões permitem iniciar o protótipo de bancada na próxima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2000" dirty="0">
                <a:solidFill>
                  <a:srgbClr val="C9D3E0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1B26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D3E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7AB"/>
                </a:solidFill>
              </a:rPr>
              <a:t>Pick-to-Light · Flow 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Pick-to-Light no flow rack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Arquitetura, funcionamento, orçamento e demonstração · 40 estações de Medicamento e Perfumaria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461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96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325880"/>
            <a:ext cx="256032" cy="256032"/>
          </a:xfrm>
          <a:prstGeom prst="ellipse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5780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325880"/>
            <a:ext cx="256032" cy="256032"/>
          </a:xfrm>
          <a:prstGeom prst="ellipse">
            <a:avLst/>
          </a:prstGeom>
          <a:solidFill>
            <a:srgbClr val="2E3A4F"/>
          </a:solidFill>
          <a:ln w="12700">
            <a:solidFill>
              <a:srgbClr val="2E3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B"/>
                </a:solidFill>
              </a:rPr>
              <a:t>Versão para decisão · 23/10/2026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Resumo: piloto de R$ 14,6 mil para validar a operação completa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estações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Medicamento + 20 Perfumaria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64992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7872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7.981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47872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endereços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1.280 com display próprio no alto giro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1344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R$ 270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operação completa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64224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Arquitetura A, produção interna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97696" y="1371600"/>
            <a:ext cx="2615184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80576" y="155448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R$ 14,6 mil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180576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piloto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7432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05 e 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490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Recomendação: 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Arquitetura A (coletores MovFast já existentes + concentrador + displays), produção interna em 12 V, piloto nas estações 05 e 27. A Arquitetura B (RFID) fica como evolução, usando a mesma infraestrutura de displays.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93208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14300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Decisões pedidas hoje: aprovar o piloto, a arquitetura A como base e o caminho de produção interna.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Hoje o operador procura o endereço; a luz passa a indicar onde e quanto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56616" cy="3566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≈ 3.000 volumes/dia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passam pela linha de separação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77063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5603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250 a 270 mil produtos/dia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971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separados em linha nas 40 estações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7490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Manutenção era o problema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4160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na experiência anterior (fios contínuos na canaleta)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6583680" y="1325880"/>
            <a:ext cx="5029200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Objetivos do projeto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858000" y="20574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o tempo por caixa em cada estação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Reduzir erros de separação (endereço e quantidade)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Abrir e fechar a caixa só com a leitura, sem tocar na tela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Troca de qualquer display em menos de 5 minutos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Visão em tempo real para gestão e TI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12064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Fora do escopo agora: controle da esteira (BHT), falta no display (segue na conferência) e reposição (melhoria futura).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Quatro passos, nenhum toque na tela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19348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1. Lê a etiqueta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 operador aperta o gatilho do coletor na etiqueta da caixa. A caixa abre na estação.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8328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657600" y="1737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110" y="193487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2. Displays acendem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Alto giro: todos os endereços com a quantidade. Baixo giro: endereço + quantidade por zona.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21792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9750" y="193487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3. Pega e confirma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Pega a quantidade e aperta o botão. O display apaga ou passa ao próximo item da zona.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9052560" y="1463040"/>
            <a:ext cx="2606040" cy="3566160"/>
          </a:xfrm>
          <a:prstGeom prst="roundRect">
            <a:avLst>
              <a:gd name="adj" fmla="val 3509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9326880" y="173736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4390" y="193487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27432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4. Lê de novo e fecha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200400"/>
            <a:ext cx="2148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Com todos apagados, nova leitura fecha, registra no Sybase e a bacia volta à esteira.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Na Arquitetura B, os passos 1 e 4 acontecem com a leitura RFID da tag fixa na caixa retornável.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Duas arquiteturas, uma mesma infraestrutura de displays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A muda só a forma de identificar a caixa: coletor (A) ou RFID (B)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A: coletor existente + concentrador por estação</a:t>
            </a:r>
            <a:endParaRPr lang="en-US" sz="2600" dirty="0"/>
          </a:p>
        </p:txBody>
      </p:sp>
      <p:pic>
        <p:nvPicPr>
          <p:cNvPr id="3" name="Image 0" descr="/home/claude/ptl-projeto/diagramas/arquitetura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Coletor MovFast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A1: app Android próprio (recomendado)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A2: tela do WMS no coletor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Serviço PTL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API + MQTT, integra Sybase e API do BHT, painel de gestão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Concentrador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Ethernet cabeada, 2 barramentos RS-485, fonte 12 V, gabinete ventilado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Arquitetura B: RFID na caixa retornável, mesmos displays</a:t>
            </a:r>
            <a:endParaRPr lang="en-US" sz="2600" dirty="0"/>
          </a:p>
        </p:txBody>
      </p:sp>
      <p:pic>
        <p:nvPicPr>
          <p:cNvPr id="3" name="Image 0" descr="/home/claude/ptl-projeto/diagramas/arquitetura_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26894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49640" y="12801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389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B2 — leitor fixo (recomendado)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7556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Leitor NFC na posição da caixa + painel LCD. Nada no corpo do operador.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549640" y="28803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732520" y="2990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B1 — pulseira NFC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732520" y="33558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≈ R$ 130 por unidade, mãos livres; bateria e conforto são o ponto de atenção.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549640" y="448056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EFE7F6"/>
          </a:solidFill>
          <a:ln w="12700">
            <a:solidFill>
              <a:srgbClr val="EFE7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732520" y="4590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Tag na caixa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732520" y="4956048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NTAG213 ≈ R$ 2,37/un; frota estimada de 5.000 caixas (confirmar).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 começa mais rápido e mais barato; B tira o coletor da mão do operador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Critério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A — Coletor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B2 — RFID leitor fixo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Leitura da caixa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Coletores MovFast já existentes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 fixa na caixa + leitor por estação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Ação do operador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Gatilho para abrir e para fechar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Posiciona a caixa (abre); nova leitura (fecha)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Hardware — 40 estações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R$ 270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R$ 293 mil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Custo recorrente novo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Nenhum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Tags de caixas novas ou danificadas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Software (estimativa)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1.080 h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≈ 1.000 h + cadastro das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Principais riscos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Wi-Fi e disponibilidade dos coletores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Posição de leitura na esteira; frota de tags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Prazo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Menor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Maior (tags, cadastro, mecânica)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 estação: alto giro na esteira, baixo giro no corredor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Layout conforme o desenho da operação, com os endereços reais da tabela wms_endereco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Uma transferência atende 4 estações; a bacia volta à esteira de qualquer ponto</a:t>
            </a:r>
            <a:endParaRPr lang="en-US" sz="2600" dirty="0"/>
          </a:p>
        </p:txBody>
      </p:sp>
      <p:pic>
        <p:nvPicPr>
          <p:cNvPr id="3" name="Image 0" descr="/home/claude/ptl-projeto/diagramas/planta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497" y="1143000"/>
            <a:ext cx="10106526" cy="5120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Andar 0 em cima; alto giro com display por endereço e baixo giro por zonas</a:t>
            </a:r>
            <a:endParaRPr lang="en-US" sz="2600" dirty="0"/>
          </a:p>
        </p:txBody>
      </p:sp>
      <p:pic>
        <p:nvPicPr>
          <p:cNvPr id="3" name="Image 0" descr="/home/claude/ptl-projeto/diagramas/layout_est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2760" y="1280160"/>
            <a:ext cx="11176000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623560"/>
            <a:ext cx="256032" cy="25603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0-3 (de cima):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quantidade por endereço (29 a 35 por estação)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97680" y="56235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6344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Alto giro, andares 4-5: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4 displays por estação (A4 e A5 em cada lado) com endereço + quantidade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046720" y="56235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54864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Baixo giro: </a:t>
            </a:r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 display de endereço + quantidade a cada 4 prédios (6 a 9 zonas)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Conector em todos os trechos: display trocado em menos de 5 minutos</a:t>
            </a:r>
            <a:endParaRPr lang="en-US" sz="2600" dirty="0"/>
          </a:p>
        </p:txBody>
      </p:sp>
      <p:pic>
        <p:nvPicPr>
          <p:cNvPr id="3" name="Image 0" descr="/home/claude/ptl-projeto/diagramas/modul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766560" cy="2271631"/>
          </a:xfrm>
          <a:prstGeom prst="rect">
            <a:avLst/>
          </a:prstGeom>
        </p:spPr>
      </p:pic>
      <p:pic>
        <p:nvPicPr>
          <p:cNvPr id="4" name="Image 1" descr="/home/claude/ptl-projeto/diagramas/cabeamen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6400800" cy="27432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0" y="132588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1194" y="1457554"/>
            <a:ext cx="285293" cy="285293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275320" y="1280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Cat5e com RJ45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275320" y="164592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RS-485 e 12 V no mesmo cabo; cada trecho é um cabo curto com conector.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7589520" y="256032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194" y="2691994"/>
            <a:ext cx="285293" cy="285293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8275320" y="2514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Sem fio contínuo na canaleta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8275320" y="28803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Diferente do sistema anterior: o módulo com defeito sai sem abrir a canaleta.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758952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1194" y="3926434"/>
            <a:ext cx="285293" cy="285293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27532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12 V em vez de 5 V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275320" y="41148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Em 10 m de cabo a queda chega a 34% em 5 V e a 14% em 12 V, absorvida pelos reguladores locais.</a:t>
            </a:r>
            <a:endParaRPr lang="en-US" sz="1300" dirty="0"/>
          </a:p>
        </p:txBody>
      </p:sp>
      <p:sp>
        <p:nvSpPr>
          <p:cNvPr id="17" name="Shape 10"/>
          <p:cNvSpPr/>
          <p:nvPr/>
        </p:nvSpPr>
        <p:spPr>
          <a:xfrm>
            <a:off x="7589520" y="5029200"/>
            <a:ext cx="548640" cy="54864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194" y="5160874"/>
            <a:ext cx="285293" cy="285293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275320" y="4983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Gabinete ventilado</a:t>
            </a:r>
            <a:endParaRPr lang="en-US" sz="1600" dirty="0"/>
          </a:p>
        </p:txBody>
      </p:sp>
      <p:sp>
        <p:nvSpPr>
          <p:cNvPr id="20" name="Text 12"/>
          <p:cNvSpPr txBox="1"/>
          <p:nvPr/>
        </p:nvSpPr>
        <p:spPr>
          <a:xfrm>
            <a:off x="8275320" y="5349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Filtro e cooler contra poeira e calor; auto-teste diário dos displays.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No coletor, só o necessário: abrir, acompanhar e fechar</a:t>
            </a:r>
            <a:endParaRPr lang="en-US" sz="2600" dirty="0"/>
          </a:p>
        </p:txBody>
      </p:sp>
      <p:pic>
        <p:nvPicPr>
          <p:cNvPr id="3" name="Image 0" descr="/home/claude/ptl-projeto/diagramas/telas_col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680960" cy="362102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412480" y="1280160"/>
            <a:ext cx="3246120" cy="44805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41080" y="14630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2754" y="1594714"/>
            <a:ext cx="285293" cy="2852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81160" y="15087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Painel de monitoramento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41080" y="2148840"/>
            <a:ext cx="28803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Status das 40 estações em tempo real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Caixas/hora e tempo médio por caixa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Módulos e concentradores com falha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Para gestão da operação e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Integração: o Serviço PTL fala com o Sybase, a API do BHT e os concentradores</a:t>
            </a:r>
            <a:endParaRPr lang="en-US" sz="2600" dirty="0"/>
          </a:p>
        </p:txBody>
      </p:sp>
      <p:pic>
        <p:nvPicPr>
          <p:cNvPr id="3" name="Image 0" descr="/home/claude/ptl-projeto/diagramas/sequ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60596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549640" y="1325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Sybase ASE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549640" y="1691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Tabelas PTL (sessões, eventos, mapa) e views dos itens da caixa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496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28803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Dados da caixa; aviso de conclusão a validar com o fornecedor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3703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MQTT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4069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Comandos e eventos por estação, com usuário e ACL próprios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8920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Rede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57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VLAN dedicada; coletores no Wi-Fi existente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Orçamento e caminhos de produção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D3E0"/>
                </a:solidFill>
              </a:rPr>
              <a:t>Preços cotados em lojas brasileiras em 23/10/2026; estimativas marcadas na planilha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Produção interna custa um terço de um sistema comercial importado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234440"/>
          <a:ext cx="75895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1325880"/>
          <a:ext cx="329184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0515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Piloto 05 + 27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R$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10.994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interna — peças + MO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14.566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B2 — RFID leitor fixo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15.738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placa própria (EMS)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32.808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A — PTL comercial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2"/>
                          </a:solidFill>
                        </a:rPr>
                        <a:t>43.196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66760" y="40690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Software interno estimado: ≈ 1.080 h (A) e ≈ 1.000 h (B). Mão de obra a R$ 34,93/h (salário médio de técnico + encargos).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Interno no piloto; placa própria como opção de escala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Produção interna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R$ 270 mil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Displays e placas comprados no Brasil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Montagem e manutenção pela equipe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Reposição imediata, domínio total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Exige técnico de eletrônica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0" y="1645920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8348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Placa própria (EMS)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R$ 348 mil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Projeto da placa ≈ R$ 15 mil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Fabricação e montagem industrial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Qualidade e repetibilidade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Importação e prazo maiores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371600"/>
            <a:ext cx="3520440" cy="438912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rgbClr val="D5DBE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21040" y="1645920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732520" y="15727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PTL comercial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1488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5"/>
                </a:solidFill>
              </a:rPr>
              <a:t>R$ 852 mil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operação completa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Produto pronto e com garantia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≈ 3× o custo da produção interna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Dependência do fornecedor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Cotação formal necessária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Piloto em cerca de 10 semanas, expansão por esteira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38100">
            <a:solidFill>
              <a:srgbClr val="C9D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3-4 sem.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Protótipo de bancada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1 concentrador, 1 nó, displays, Serviço PTL mínimo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926080" y="2130552"/>
            <a:ext cx="402336" cy="40233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6-8 sem.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Piloto 05 e 27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788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Estações completas, app do coletor, painel, medição antes/depois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16636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2 sem.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Avaliação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Indicadores, ajuste das zonas, decisão A/B e produção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40664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10-14 sem.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Expansão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26948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Medicamento e depois Perfumaria, em lotes de 5 estações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46920" y="2130552"/>
            <a:ext cx="402336" cy="402336"/>
          </a:xfrm>
          <a:prstGeom prst="ellipse">
            <a:avLst/>
          </a:prstGeom>
          <a:solidFill>
            <a:schemeClr val="tx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46920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0" y="15087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4 sem.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50976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Estabilização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Ajustes finais e passagem para a sustentação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834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Para começar: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fotos e medidas das estações, média de itens por caixa, acesso à API do BHT e às tabelas de pedido no Sybase, e definição da linguagem do Serviço PTL.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Riscos conhecidos já têm mitigação no desenho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167518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Dados da caixa na API do BHT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Validar no protótipo; alternativa por views no Sybase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72200" y="132588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01" y="16751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086600" y="149047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Manutenção alta (experiência anterior)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086600" y="18928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RJ45 em todos os trechos, módulos de troca rápida, auto-teste diário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941" y="318394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Poeira e calor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Gabinete com filtro e cooler; componentes para 0-50 °C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283464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0632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501" y="3183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86600" y="299923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Itens por caixa fora do esperado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086600" y="34015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Medir no piloto e ajustar o tamanho das zonas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1" y="469270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Dependência de um técnico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46304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Documentação, kits de reserva e opção de placa própria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172200" y="4343400"/>
            <a:ext cx="54406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5720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501" y="469270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086600" y="45079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Adoção pelos operadores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7086600" y="491032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Piloto com operadores-chave e treinamento de 30 min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Demonstração: a estação 05 em 3D, com o fluxo completo</a:t>
            </a:r>
            <a:endParaRPr lang="en-US" sz="2600" dirty="0"/>
          </a:p>
        </p:txBody>
      </p:sp>
      <p:pic>
        <p:nvPicPr>
          <p:cNvPr id="3" name="Image 0" descr="/home/claude/ptl-projeto/diagramas/simulador_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863840" cy="442341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595360" y="12801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7034" y="1411834"/>
            <a:ext cx="285293" cy="285293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23544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Roteiro (≈ 5 min)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8595360" y="2011680"/>
            <a:ext cx="31089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Bacia entra pela transferência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Leitura no coletor virtual (ou modo RFID)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Alto giro e zonas acendem (endereços reais)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Confirmação nos botões; zonas avançam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Nova leitura fecha; bacia volta à esteira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chemeClr val="tx2"/>
                </a:solidFill>
              </a:rPr>
              <a:t>Painel mostra tempo e produtividade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7AB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Decisões para hoje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1. Aprovar o piloto nas estações 05 e 27 (≈ R$ 14,6 mil)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2. Adotar a Arquitetura A como base, com B como evolução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3. Produção interna em 12 V no piloto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D3E0"/>
                </a:solidFill>
              </a:rPr>
              <a:t>4. Liberar fotos, dados de volume, API do BHT e acesso ao Sybase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TL Flow Rack">
  <a:themeElements>
    <a:clrScheme name="PTL Flow Rack">
      <a:dk1>
        <a:srgbClr val="1B2638"/>
      </a:dk1>
      <a:lt1>
        <a:srgbClr val="FFFFFF"/>
      </a:lt1>
      <a:dk2>
        <a:srgbClr val="2E3A4F"/>
      </a:dk2>
      <a:lt2>
        <a:srgbClr val="EEF1F5"/>
      </a:lt2>
      <a:accent1>
        <a:srgbClr val="F2A33A"/>
      </a:accent1>
      <a:accent2>
        <a:srgbClr val="2E8B57"/>
      </a:accent2>
      <a:accent3>
        <a:srgbClr val="2F5597"/>
      </a:accent3>
      <a:accent4>
        <a:srgbClr val="7B4FA0"/>
      </a:accent4>
      <a:accent5>
        <a:srgbClr val="C0392B"/>
      </a:accent5>
      <a:accent6>
        <a:srgbClr val="5B6675"/>
      </a:accent6>
      <a:hlink>
        <a:srgbClr val="2F5597"/>
      </a:hlink>
      <a:folHlink>
        <a:srgbClr val="7B4FA0"/>
      </a:folHlink>
    </a:clrScheme>
    <a:fontScheme name="PTL Flow Rac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Pick-to-Light — Arquitetura e orçamento</dc:title>
  <dc:subject>PptxGenJS Presentation</dc:subject>
  <dc:creator>PptxGenJS</dc:creator>
  <cp:lastModifiedBy>PptxGenJS</cp:lastModifiedBy>
  <cp:revision>1</cp:revision>
  <dcterms:created xsi:type="dcterms:W3CDTF">2026-10-24T11:14:42Z</dcterms:created>
  <dcterms:modified xsi:type="dcterms:W3CDTF">2026-10-24T11:14:42Z</dcterms:modified>
</cp:coreProperties>
</file>